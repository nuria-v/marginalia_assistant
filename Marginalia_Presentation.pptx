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1" r:id="rId4"/>
    <p:sldId id="258" r:id="rId5"/>
    <p:sldId id="259" r:id="rId6"/>
    <p:sldId id="261" r:id="rId7"/>
    <p:sldId id="264" r:id="rId8"/>
    <p:sldId id="265" r:id="rId9"/>
    <p:sldId id="266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6B6B"/>
    <a:srgbClr val="1F331F"/>
    <a:srgbClr val="B8862A"/>
    <a:srgbClr val="F5F2E8"/>
    <a:srgbClr val="F5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82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B79F-898C-5B6A-E9EB-F31EB9F9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3DC01-524D-7875-B236-78C01C689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1FEC9-31F4-3A6E-287E-C8031DCB5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23E0-AF50-3C73-8014-C7A610AEC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1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ED6E-4F11-FB62-ABB7-F3C6F5B5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6659C-12FC-754A-59BB-88DBB108E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21125-EF44-86A4-229B-2C303734E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03C20-CECC-EC38-79DC-02BD38927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84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4B9BA-EA84-D99D-33CA-E0179CC9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F58D3-DE2E-E79C-65E2-629EB07BF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8C758-1E0B-C547-CCA9-B76EF6AF9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4B105-3ADC-4D0E-47DF-1DEAA16D5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3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-621792" y="2263782"/>
            <a:ext cx="4114800" cy="4114800"/>
          </a:xfrm>
          <a:prstGeom prst="ellipse">
            <a:avLst/>
          </a:prstGeom>
          <a:solidFill>
            <a:srgbClr val="2D4A2D">
              <a:alpha val="25000"/>
            </a:srgbClr>
          </a:solidFill>
          <a:ln w="12700">
            <a:solidFill>
              <a:srgbClr val="2D4A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3291840" cy="1719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3108960"/>
            <a:ext cx="3017520" cy="18288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539496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i="1" noProof="0" dirty="0">
                <a:solidFill>
                  <a:srgbClr val="4A5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 · Data </a:t>
            </a:r>
            <a:r>
              <a:rPr lang="es-ES_tradnl" sz="1000" i="1" noProof="0" dirty="0" err="1">
                <a:solidFill>
                  <a:srgbClr val="4A5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</a:t>
            </a:r>
            <a:r>
              <a:rPr lang="es-ES_tradnl" sz="1000" i="1" noProof="0" dirty="0">
                <a:solidFill>
                  <a:srgbClr val="4A5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ML </a:t>
            </a:r>
            <a:r>
              <a:rPr lang="es-ES_tradnl" sz="1000" i="1" noProof="0" dirty="0" err="1">
                <a:solidFill>
                  <a:srgbClr val="4A5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Bootcamp</a:t>
            </a:r>
            <a:endParaRPr lang="es-ES_tradnl" sz="1000" noProof="0" dirty="0"/>
          </a:p>
        </p:txBody>
      </p:sp>
      <p:sp>
        <p:nvSpPr>
          <p:cNvPr id="8" name="Text 5"/>
          <p:cNvSpPr/>
          <p:nvPr/>
        </p:nvSpPr>
        <p:spPr>
          <a:xfrm>
            <a:off x="5394960" y="3611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b="1" kern="0" spc="200" noProof="0" dirty="0" err="1">
                <a:solidFill>
                  <a:srgbClr val="B8862B"/>
                </a:solidFill>
              </a:rPr>
              <a:t>Ironhack</a:t>
            </a:r>
            <a:endParaRPr lang="es-ES_tradnl" sz="1000" noProof="0" dirty="0"/>
          </a:p>
        </p:txBody>
      </p:sp>
      <p:sp>
        <p:nvSpPr>
          <p:cNvPr id="10" name="Text 7"/>
          <p:cNvSpPr/>
          <p:nvPr/>
        </p:nvSpPr>
        <p:spPr>
          <a:xfrm>
            <a:off x="347472" y="107506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800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asistente</a:t>
            </a:r>
            <a:endParaRPr lang="es-ES_tradnl" sz="3800" noProof="0" dirty="0"/>
          </a:p>
          <a:p>
            <a:pPr marL="0" indent="0">
              <a:buNone/>
            </a:pPr>
            <a:r>
              <a:rPr lang="es-ES_tradnl" sz="3800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literario personal</a:t>
            </a:r>
            <a:endParaRPr lang="es-ES_tradnl" sz="3800" noProof="0" dirty="0"/>
          </a:p>
        </p:txBody>
      </p:sp>
      <p:sp>
        <p:nvSpPr>
          <p:cNvPr id="11" name="Text 8"/>
          <p:cNvSpPr/>
          <p:nvPr/>
        </p:nvSpPr>
        <p:spPr>
          <a:xfrm>
            <a:off x="347472" y="238265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EE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impulsado por NLP, ML e IA Generativa</a:t>
            </a:r>
            <a:endParaRPr lang="es-ES_tradnl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347472" y="2958726"/>
            <a:ext cx="4389120" cy="1828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0"/>
          <p:cNvSpPr/>
          <p:nvPr/>
        </p:nvSpPr>
        <p:spPr>
          <a:xfrm>
            <a:off x="347472" y="3114174"/>
            <a:ext cx="804672" cy="292608"/>
          </a:xfrm>
          <a:prstGeom prst="rect">
            <a:avLst/>
          </a:prstGeom>
          <a:solidFill>
            <a:srgbClr val="2D4A2D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1"/>
          <p:cNvSpPr/>
          <p:nvPr/>
        </p:nvSpPr>
        <p:spPr>
          <a:xfrm>
            <a:off x="347472" y="311417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b="1" noProof="0" dirty="0">
                <a:solidFill>
                  <a:srgbClr val="F5F0E8"/>
                </a:solidFill>
              </a:rPr>
              <a:t>TF-IDF</a:t>
            </a:r>
            <a:endParaRPr lang="es-ES_tradnl" sz="800" noProof="0" dirty="0"/>
          </a:p>
        </p:txBody>
      </p:sp>
      <p:sp>
        <p:nvSpPr>
          <p:cNvPr id="15" name="Shape 12"/>
          <p:cNvSpPr/>
          <p:nvPr/>
        </p:nvSpPr>
        <p:spPr>
          <a:xfrm>
            <a:off x="1225296" y="3114174"/>
            <a:ext cx="804672" cy="292608"/>
          </a:xfrm>
          <a:prstGeom prst="rect">
            <a:avLst/>
          </a:prstGeom>
          <a:solidFill>
            <a:srgbClr val="2D4A2D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3"/>
          <p:cNvSpPr/>
          <p:nvPr/>
        </p:nvSpPr>
        <p:spPr>
          <a:xfrm>
            <a:off x="1225296" y="311417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b="1" noProof="0" dirty="0">
                <a:solidFill>
                  <a:srgbClr val="F5F0E8"/>
                </a:solidFill>
              </a:rPr>
              <a:t>BERT</a:t>
            </a:r>
            <a:endParaRPr lang="es-ES_tradnl" sz="800" noProof="0" dirty="0"/>
          </a:p>
        </p:txBody>
      </p:sp>
      <p:sp>
        <p:nvSpPr>
          <p:cNvPr id="17" name="Shape 14"/>
          <p:cNvSpPr/>
          <p:nvPr/>
        </p:nvSpPr>
        <p:spPr>
          <a:xfrm>
            <a:off x="2103120" y="3114174"/>
            <a:ext cx="804672" cy="292608"/>
          </a:xfrm>
          <a:prstGeom prst="rect">
            <a:avLst/>
          </a:prstGeom>
          <a:solidFill>
            <a:srgbClr val="2D4A2D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Text 15"/>
          <p:cNvSpPr/>
          <p:nvPr/>
        </p:nvSpPr>
        <p:spPr>
          <a:xfrm>
            <a:off x="2103120" y="311417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b="1" noProof="0" dirty="0">
                <a:solidFill>
                  <a:srgbClr val="F5F0E8"/>
                </a:solidFill>
              </a:rPr>
              <a:t>K-</a:t>
            </a:r>
            <a:r>
              <a:rPr lang="es-ES_tradnl" sz="800" b="1" noProof="0" dirty="0" err="1">
                <a:solidFill>
                  <a:srgbClr val="F5F0E8"/>
                </a:solidFill>
              </a:rPr>
              <a:t>Means</a:t>
            </a:r>
            <a:endParaRPr lang="es-ES_tradnl" sz="800" noProof="0" dirty="0"/>
          </a:p>
        </p:txBody>
      </p:sp>
      <p:sp>
        <p:nvSpPr>
          <p:cNvPr id="19" name="Shape 16"/>
          <p:cNvSpPr/>
          <p:nvPr/>
        </p:nvSpPr>
        <p:spPr>
          <a:xfrm>
            <a:off x="2980944" y="3114174"/>
            <a:ext cx="804672" cy="292608"/>
          </a:xfrm>
          <a:prstGeom prst="rect">
            <a:avLst/>
          </a:prstGeom>
          <a:solidFill>
            <a:srgbClr val="2D4A2D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Text 17"/>
          <p:cNvSpPr/>
          <p:nvPr/>
        </p:nvSpPr>
        <p:spPr>
          <a:xfrm>
            <a:off x="2980944" y="311417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b="1" noProof="0" dirty="0">
                <a:solidFill>
                  <a:srgbClr val="F5F0E8"/>
                </a:solidFill>
              </a:rPr>
              <a:t>GPT-4o RAG</a:t>
            </a:r>
            <a:endParaRPr lang="es-ES_tradnl" sz="800" noProof="0" dirty="0"/>
          </a:p>
        </p:txBody>
      </p:sp>
      <p:sp>
        <p:nvSpPr>
          <p:cNvPr id="21" name="Shape 18"/>
          <p:cNvSpPr/>
          <p:nvPr/>
        </p:nvSpPr>
        <p:spPr>
          <a:xfrm>
            <a:off x="3858768" y="3114174"/>
            <a:ext cx="804672" cy="292608"/>
          </a:xfrm>
          <a:prstGeom prst="rect">
            <a:avLst/>
          </a:prstGeom>
          <a:solidFill>
            <a:srgbClr val="2D4A2D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2" name="Text 19"/>
          <p:cNvSpPr/>
          <p:nvPr/>
        </p:nvSpPr>
        <p:spPr>
          <a:xfrm>
            <a:off x="3858768" y="311417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b="1" noProof="0" dirty="0" err="1">
                <a:solidFill>
                  <a:srgbClr val="F5F0E8"/>
                </a:solidFill>
              </a:rPr>
              <a:t>Streamlit</a:t>
            </a:r>
            <a:endParaRPr lang="es-ES_tradnl" sz="800" noProof="0" dirty="0"/>
          </a:p>
        </p:txBody>
      </p:sp>
      <p:sp>
        <p:nvSpPr>
          <p:cNvPr id="24" name="Text 21"/>
          <p:cNvSpPr/>
          <p:nvPr/>
        </p:nvSpPr>
        <p:spPr>
          <a:xfrm>
            <a:off x="603381" y="4508634"/>
            <a:ext cx="190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00" noProof="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</a:rPr>
              <a:t>Nuria Vallés Avalos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61C4C-163C-69A3-9272-040CECAB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BCF0A2-593D-1386-95CC-0FCEC413BF9C}"/>
              </a:ext>
            </a:extLst>
          </p:cNvPr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F3320"/>
          </a:solidFill>
          <a:ln w="12700">
            <a:solidFill>
              <a:srgbClr val="1F3320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22D07D-3B96-F2EF-DEED-5B9696A13D16}"/>
              </a:ext>
            </a:extLst>
          </p:cNvPr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0E74DD-B527-3C6B-824A-440A6806FA03}"/>
              </a:ext>
            </a:extLst>
          </p:cNvPr>
          <p:cNvSpPr/>
          <p:nvPr/>
        </p:nvSpPr>
        <p:spPr>
          <a:xfrm>
            <a:off x="182880" y="1548937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i="1" noProof="0" dirty="0">
                <a:solidFill>
                  <a:srgbClr val="B88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s-ES_tradnl" sz="20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DDBC2E-A30C-C34B-573A-9A55ED4F4AD3}"/>
              </a:ext>
            </a:extLst>
          </p:cNvPr>
          <p:cNvSpPr/>
          <p:nvPr/>
        </p:nvSpPr>
        <p:spPr>
          <a:xfrm>
            <a:off x="182880" y="2212849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D4A74A"/>
                </a:solidFill>
              </a:rPr>
              <a:t>01  ¿Por qué </a:t>
            </a:r>
            <a:r>
              <a:rPr lang="es-ES_tradnl" sz="1100" noProof="0" dirty="0" err="1">
                <a:solidFill>
                  <a:srgbClr val="D4A74A"/>
                </a:solidFill>
              </a:rPr>
              <a:t>Marginalia</a:t>
            </a:r>
            <a:r>
              <a:rPr lang="es-ES_tradnl" sz="1100" noProof="0" dirty="0">
                <a:solidFill>
                  <a:srgbClr val="D4A74A"/>
                </a:solidFill>
              </a:rPr>
              <a:t>?</a:t>
            </a:r>
            <a:endParaRPr lang="es-ES_tradnl" sz="11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E682CD-4BD4-1B5B-46E7-E93316B97885}"/>
              </a:ext>
            </a:extLst>
          </p:cNvPr>
          <p:cNvSpPr/>
          <p:nvPr/>
        </p:nvSpPr>
        <p:spPr>
          <a:xfrm>
            <a:off x="182880" y="2578609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02  Objetivo</a:t>
            </a:r>
            <a:endParaRPr lang="es-ES_tradnl" sz="11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D4AF4E4-85C9-977A-68EB-AE2751D50835}"/>
              </a:ext>
            </a:extLst>
          </p:cNvPr>
          <p:cNvSpPr/>
          <p:nvPr/>
        </p:nvSpPr>
        <p:spPr>
          <a:xfrm>
            <a:off x="182880" y="3218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04  EDA y Limpieza</a:t>
            </a:r>
            <a:endParaRPr lang="es-ES_tradnl" sz="11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1D1C873-FE1B-D76C-AADB-48C39C95A419}"/>
              </a:ext>
            </a:extLst>
          </p:cNvPr>
          <p:cNvSpPr/>
          <p:nvPr/>
        </p:nvSpPr>
        <p:spPr>
          <a:xfrm>
            <a:off x="182880" y="3584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05  Pipeline</a:t>
            </a:r>
            <a:endParaRPr lang="es-ES_tradnl" sz="11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9EA67C6-FB12-F895-B96D-663CA4C49E3E}"/>
              </a:ext>
            </a:extLst>
          </p:cNvPr>
          <p:cNvSpPr/>
          <p:nvPr/>
        </p:nvSpPr>
        <p:spPr>
          <a:xfrm>
            <a:off x="182880" y="39502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06  Demo en Vivo</a:t>
            </a:r>
            <a:endParaRPr lang="es-ES_tradnl" sz="11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0C3AD1F-F630-3E56-8882-916EC7CDC1C7}"/>
              </a:ext>
            </a:extLst>
          </p:cNvPr>
          <p:cNvSpPr/>
          <p:nvPr/>
        </p:nvSpPr>
        <p:spPr>
          <a:xfrm>
            <a:off x="182880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07  Mejoras Futuras</a:t>
            </a:r>
            <a:endParaRPr lang="es-ES_tradnl" sz="1100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14EAC14-C2C4-48FC-227C-68E09DF88176}"/>
              </a:ext>
            </a:extLst>
          </p:cNvPr>
          <p:cNvSpPr/>
          <p:nvPr/>
        </p:nvSpPr>
        <p:spPr>
          <a:xfrm>
            <a:off x="182880" y="4681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08  Conclusiones</a:t>
            </a:r>
            <a:endParaRPr lang="es-ES_tradnl" sz="1100" noProof="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D894753-FAC1-CA29-1449-645A7FA2353F}"/>
              </a:ext>
            </a:extLst>
          </p:cNvPr>
          <p:cNvSpPr/>
          <p:nvPr/>
        </p:nvSpPr>
        <p:spPr>
          <a:xfrm>
            <a:off x="3108960" y="2464309"/>
            <a:ext cx="53008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i="1" noProof="0" dirty="0" err="1">
                <a:solidFill>
                  <a:srgbClr val="1F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mar·gi·na·li·a</a:t>
            </a:r>
            <a:endParaRPr lang="es-ES_tradnl" sz="3600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00B1B86-EA60-A555-C713-70AC3B72F6D2}"/>
              </a:ext>
            </a:extLst>
          </p:cNvPr>
          <p:cNvSpPr/>
          <p:nvPr/>
        </p:nvSpPr>
        <p:spPr>
          <a:xfrm>
            <a:off x="3108960" y="3236977"/>
            <a:ext cx="5078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500" i="1" noProof="0" dirty="0">
                <a:solidFill>
                  <a:srgbClr val="4A5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Ilustraciones, comentarios o anotaciones que acompañan a manuscritos medievales.</a:t>
            </a:r>
            <a:endParaRPr lang="es-ES_tradnl" sz="1500" noProof="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ECDED8C-D7AC-06E9-F3D8-C2765D1864F8}"/>
              </a:ext>
            </a:extLst>
          </p:cNvPr>
          <p:cNvSpPr/>
          <p:nvPr/>
        </p:nvSpPr>
        <p:spPr>
          <a:xfrm>
            <a:off x="3108960" y="3712465"/>
            <a:ext cx="5532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50" i="1" noProof="0" dirty="0">
                <a:solidFill>
                  <a:srgbClr val="B88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Trazos personales de pensamiento, reflexiones y significado.</a:t>
            </a:r>
            <a:endParaRPr lang="es-ES_tradnl" sz="1350" noProof="0" dirty="0"/>
          </a:p>
        </p:txBody>
      </p:sp>
      <p:pic>
        <p:nvPicPr>
          <p:cNvPr id="16" name="Picture 15" descr="Close-up of a painting of a person writing on a book&#10;&#10;AI-generated content may be incorrect.">
            <a:extLst>
              <a:ext uri="{FF2B5EF4-FFF2-40B4-BE49-F238E27FC236}">
                <a16:creationId xmlns:a16="http://schemas.microsoft.com/office/drawing/2014/main" id="{B0ADE49D-3C6D-FBBD-414F-A28F05E7E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9" y="-17923"/>
            <a:ext cx="2377441" cy="2367931"/>
          </a:xfrm>
          <a:prstGeom prst="rect">
            <a:avLst/>
          </a:prstGeom>
          <a:effectLst>
            <a:glow>
              <a:schemeClr val="bg2">
                <a:lumMod val="9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382C117B-D151-26EE-99AB-EDE683C700BA}"/>
              </a:ext>
            </a:extLst>
          </p:cNvPr>
          <p:cNvSpPr/>
          <p:nvPr/>
        </p:nvSpPr>
        <p:spPr>
          <a:xfrm>
            <a:off x="182880" y="2907793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AABBAA"/>
                </a:solidFill>
              </a:rPr>
              <a:t>03  </a:t>
            </a:r>
            <a:r>
              <a:rPr lang="es-ES_tradnl" sz="1100" noProof="0" dirty="0" err="1">
                <a:solidFill>
                  <a:srgbClr val="AABBAA"/>
                </a:solidFill>
              </a:rPr>
              <a:t>Dataset</a:t>
            </a:r>
            <a:endParaRPr lang="es-ES_tradnl" sz="1100" noProof="0" dirty="0"/>
          </a:p>
        </p:txBody>
      </p:sp>
    </p:spTree>
    <p:extLst>
      <p:ext uri="{BB962C8B-B14F-4D97-AF65-F5344CB8AC3E}">
        <p14:creationId xmlns:p14="http://schemas.microsoft.com/office/powerpoint/2010/main" val="408140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3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4CAEE-EFC8-0C3E-CF07-5E3CB653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C8B3A5-08A5-01EE-D549-3735C0AF20A1}"/>
              </a:ext>
            </a:extLst>
          </p:cNvPr>
          <p:cNvSpPr/>
          <p:nvPr/>
        </p:nvSpPr>
        <p:spPr>
          <a:xfrm>
            <a:off x="-1308450" y="-697082"/>
            <a:ext cx="5486400" cy="5486400"/>
          </a:xfrm>
          <a:prstGeom prst="ellipse">
            <a:avLst/>
          </a:prstGeom>
          <a:solidFill>
            <a:srgbClr val="2D4A2D">
              <a:alpha val="18000"/>
            </a:srgbClr>
          </a:solidFill>
          <a:ln w="12700">
            <a:solidFill>
              <a:srgbClr val="2D4A2D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A1E0F3-127D-8C81-0280-7D0A7E59FC96}"/>
              </a:ext>
            </a:extLst>
          </p:cNvPr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B8862B">
              <a:alpha val="12000"/>
            </a:srgbClr>
          </a:solidFill>
          <a:ln w="12700">
            <a:solidFill>
              <a:srgbClr val="B8862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85F2B4-4BBB-3C8F-A738-F40F28A1EAD7}"/>
              </a:ext>
            </a:extLst>
          </p:cNvPr>
          <p:cNvSpPr/>
          <p:nvPr/>
        </p:nvSpPr>
        <p:spPr>
          <a:xfrm>
            <a:off x="5943978" y="834621"/>
            <a:ext cx="2666887" cy="2606394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E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7757BA-4265-2AAE-FC71-D3C8B9F519BD}"/>
              </a:ext>
            </a:extLst>
          </p:cNvPr>
          <p:cNvSpPr/>
          <p:nvPr/>
        </p:nvSpPr>
        <p:spPr>
          <a:xfrm>
            <a:off x="3152613" y="2021459"/>
            <a:ext cx="2666887" cy="2606394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E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A18620-C2B2-6590-2436-9EB995B9AC02}"/>
              </a:ext>
            </a:extLst>
          </p:cNvPr>
          <p:cNvSpPr/>
          <p:nvPr/>
        </p:nvSpPr>
        <p:spPr>
          <a:xfrm>
            <a:off x="303858" y="928348"/>
            <a:ext cx="2666887" cy="2606394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ES">
              <a:solidFill>
                <a:schemeClr val="tx1"/>
              </a:solidFill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C2AF78EC-0AB8-B844-4602-81B7EF6B1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750" y="1364244"/>
            <a:ext cx="405105" cy="474109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F75F0236-3FFA-3F11-060F-D66274265CF2}"/>
              </a:ext>
            </a:extLst>
          </p:cNvPr>
          <p:cNvSpPr/>
          <p:nvPr/>
        </p:nvSpPr>
        <p:spPr>
          <a:xfrm>
            <a:off x="507938" y="1890187"/>
            <a:ext cx="2187562" cy="341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F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tradición</a:t>
            </a:r>
            <a:endParaRPr lang="es-ES_tradnl" sz="1100" noProof="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7EC27C1-4F1B-E6A7-1078-D50B3D0C85B8}"/>
              </a:ext>
            </a:extLst>
          </p:cNvPr>
          <p:cNvSpPr/>
          <p:nvPr/>
        </p:nvSpPr>
        <p:spPr>
          <a:xfrm>
            <a:off x="750769" y="2123991"/>
            <a:ext cx="1783561" cy="777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50" noProof="0" dirty="0">
                <a:solidFill>
                  <a:srgbClr val="4A5248"/>
                </a:solidFill>
              </a:rPr>
              <a:t>Desde la Antigüedad, los lectores </a:t>
            </a:r>
            <a:r>
              <a:rPr lang="es-ES_tradnl" sz="850" b="1" noProof="0" dirty="0">
                <a:solidFill>
                  <a:srgbClr val="4A5248"/>
                </a:solidFill>
              </a:rPr>
              <a:t>anotan reflexiones</a:t>
            </a:r>
            <a:r>
              <a:rPr lang="es-ES_tradnl" sz="850" noProof="0" dirty="0">
                <a:solidFill>
                  <a:srgbClr val="4A5248"/>
                </a:solidFill>
              </a:rPr>
              <a:t> en los márgenes de sus textos. Esas notas revelan cómo una persona </a:t>
            </a:r>
            <a:r>
              <a:rPr lang="es-ES_tradnl" sz="850" b="1" noProof="0" dirty="0">
                <a:solidFill>
                  <a:srgbClr val="4A5248"/>
                </a:solidFill>
              </a:rPr>
              <a:t>piensa y siente</a:t>
            </a:r>
            <a:r>
              <a:rPr lang="es-ES_tradnl" sz="850" noProof="0" dirty="0">
                <a:solidFill>
                  <a:srgbClr val="4A5248"/>
                </a:solidFill>
              </a:rPr>
              <a:t>.</a:t>
            </a:r>
            <a:endParaRPr lang="es-ES_tradnl" sz="850" noProof="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D59955A0-5CB4-8A66-EB4D-24B6B9ABB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739" y="2571439"/>
            <a:ext cx="474109" cy="474109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EF572995-82BD-77C0-2DB7-B7382155928A}"/>
              </a:ext>
            </a:extLst>
          </p:cNvPr>
          <p:cNvSpPr/>
          <p:nvPr/>
        </p:nvSpPr>
        <p:spPr>
          <a:xfrm>
            <a:off x="3166503" y="3097382"/>
            <a:ext cx="2560185" cy="341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F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idea del proyecto</a:t>
            </a:r>
            <a:endParaRPr lang="es-ES_tradnl" sz="1100" noProof="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7A175C6-C312-5136-98E3-9EA77CB2D22F}"/>
              </a:ext>
            </a:extLst>
          </p:cNvPr>
          <p:cNvSpPr/>
          <p:nvPr/>
        </p:nvSpPr>
        <p:spPr>
          <a:xfrm>
            <a:off x="3418797" y="3373553"/>
            <a:ext cx="2129991" cy="777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50" noProof="0" dirty="0" err="1">
                <a:solidFill>
                  <a:srgbClr val="4A5248"/>
                </a:solidFill>
              </a:rPr>
              <a:t>Marginalia</a:t>
            </a:r>
            <a:r>
              <a:rPr lang="es-ES_tradnl" sz="850" noProof="0" dirty="0">
                <a:solidFill>
                  <a:srgbClr val="4A5248"/>
                </a:solidFill>
              </a:rPr>
              <a:t> lleva esa práctica al mundo digital: tus </a:t>
            </a:r>
            <a:r>
              <a:rPr lang="es-ES_tradnl" sz="850" b="1" noProof="0" dirty="0">
                <a:solidFill>
                  <a:srgbClr val="4A5248"/>
                </a:solidFill>
              </a:rPr>
              <a:t>notas</a:t>
            </a:r>
            <a:r>
              <a:rPr lang="es-ES_tradnl" sz="850" noProof="0" dirty="0">
                <a:solidFill>
                  <a:srgbClr val="4A5248"/>
                </a:solidFill>
              </a:rPr>
              <a:t> se convierten en </a:t>
            </a:r>
            <a:r>
              <a:rPr lang="es-ES_tradnl" sz="850" b="1" noProof="0" dirty="0">
                <a:solidFill>
                  <a:srgbClr val="4A5248"/>
                </a:solidFill>
              </a:rPr>
              <a:t>datos</a:t>
            </a:r>
            <a:r>
              <a:rPr lang="es-ES_tradnl" sz="850" noProof="0" dirty="0">
                <a:solidFill>
                  <a:srgbClr val="4A5248"/>
                </a:solidFill>
              </a:rPr>
              <a:t> que el </a:t>
            </a:r>
            <a:r>
              <a:rPr lang="es-ES_tradnl" sz="850" b="1" noProof="0" dirty="0">
                <a:solidFill>
                  <a:srgbClr val="4A5248"/>
                </a:solidFill>
              </a:rPr>
              <a:t>sistema analiza </a:t>
            </a:r>
            <a:r>
              <a:rPr lang="es-ES_tradnl" sz="850" noProof="0" dirty="0">
                <a:solidFill>
                  <a:srgbClr val="4A5248"/>
                </a:solidFill>
              </a:rPr>
              <a:t>para construir tu perfil lector único.</a:t>
            </a:r>
            <a:endParaRPr lang="es-ES_tradnl" sz="850" noProof="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40491014-1CA0-C45C-4EAC-7E815FE96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366" y="1364244"/>
            <a:ext cx="474109" cy="474109"/>
          </a:xfrm>
          <a:prstGeom prst="rect">
            <a:avLst/>
          </a:prstGeom>
        </p:spPr>
      </p:pic>
      <p:sp>
        <p:nvSpPr>
          <p:cNvPr id="19" name="Text 17">
            <a:extLst>
              <a:ext uri="{FF2B5EF4-FFF2-40B4-BE49-F238E27FC236}">
                <a16:creationId xmlns:a16="http://schemas.microsoft.com/office/drawing/2014/main" id="{1C3F0770-8B4B-42B9-E684-36D7E417060A}"/>
              </a:ext>
            </a:extLst>
          </p:cNvPr>
          <p:cNvSpPr/>
          <p:nvPr/>
        </p:nvSpPr>
        <p:spPr>
          <a:xfrm>
            <a:off x="6001368" y="1862168"/>
            <a:ext cx="2560185" cy="341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F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resultado</a:t>
            </a:r>
            <a:endParaRPr lang="es-ES_tradnl" sz="11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1C06E4-B0D2-3C6C-4967-9F3BDD3289F6}"/>
              </a:ext>
            </a:extLst>
          </p:cNvPr>
          <p:cNvSpPr/>
          <p:nvPr/>
        </p:nvSpPr>
        <p:spPr>
          <a:xfrm>
            <a:off x="6377708" y="2187358"/>
            <a:ext cx="1934591" cy="777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50" noProof="0" dirty="0">
                <a:solidFill>
                  <a:srgbClr val="4A5248"/>
                </a:solidFill>
              </a:rPr>
              <a:t>Un registro extensive de tus notas. </a:t>
            </a:r>
          </a:p>
          <a:p>
            <a:pPr marL="0" indent="0" algn="ctr">
              <a:buNone/>
            </a:pPr>
            <a:r>
              <a:rPr lang="es-ES_tradnl" sz="850" b="1" noProof="0" dirty="0">
                <a:solidFill>
                  <a:srgbClr val="4A5248"/>
                </a:solidFill>
              </a:rPr>
              <a:t>Un mapa de tu mente lectora </a:t>
            </a:r>
            <a:r>
              <a:rPr lang="es-ES_tradnl" sz="850" noProof="0" dirty="0">
                <a:solidFill>
                  <a:srgbClr val="4A5248"/>
                </a:solidFill>
              </a:rPr>
              <a:t>— temático, emocional, narrativo — que te </a:t>
            </a:r>
            <a:r>
              <a:rPr lang="es-ES_tradnl" sz="850" b="1" noProof="0" dirty="0">
                <a:solidFill>
                  <a:srgbClr val="4A5248"/>
                </a:solidFill>
              </a:rPr>
              <a:t>conecta con libros </a:t>
            </a:r>
            <a:r>
              <a:rPr lang="es-ES_tradnl" sz="850" noProof="0" dirty="0">
                <a:solidFill>
                  <a:srgbClr val="4A5248"/>
                </a:solidFill>
              </a:rPr>
              <a:t>que </a:t>
            </a:r>
            <a:r>
              <a:rPr lang="es-ES_tradnl" sz="850" b="1" noProof="0" dirty="0">
                <a:solidFill>
                  <a:srgbClr val="4A5248"/>
                </a:solidFill>
              </a:rPr>
              <a:t>todavía no conoces pero que ya son tuyos</a:t>
            </a:r>
            <a:r>
              <a:rPr lang="es-ES_tradnl" sz="850" noProof="0" dirty="0">
                <a:solidFill>
                  <a:srgbClr val="4A5248"/>
                </a:solidFill>
              </a:rPr>
              <a:t>.</a:t>
            </a:r>
            <a:endParaRPr lang="es-ES_tradnl" sz="850" noProof="0" dirty="0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672418F6-8B1B-5F5C-33EB-ECDD550DABCF}"/>
              </a:ext>
            </a:extLst>
          </p:cNvPr>
          <p:cNvSpPr/>
          <p:nvPr/>
        </p:nvSpPr>
        <p:spPr>
          <a:xfrm rot="20218927">
            <a:off x="5577878" y="2549705"/>
            <a:ext cx="712240" cy="293812"/>
          </a:xfrm>
          <a:prstGeom prst="rightArrow">
            <a:avLst>
              <a:gd name="adj1" fmla="val 29155"/>
              <a:gd name="adj2" fmla="val 50000"/>
            </a:avLst>
          </a:prstGeom>
          <a:solidFill>
            <a:srgbClr val="B8862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4D9EDBEF-3A5E-2FC6-1F14-E1B3B6B55562}"/>
              </a:ext>
            </a:extLst>
          </p:cNvPr>
          <p:cNvSpPr/>
          <p:nvPr/>
        </p:nvSpPr>
        <p:spPr>
          <a:xfrm rot="1778709">
            <a:off x="2791455" y="2629427"/>
            <a:ext cx="712240" cy="293812"/>
          </a:xfrm>
          <a:prstGeom prst="rightArrow">
            <a:avLst>
              <a:gd name="adj1" fmla="val 29155"/>
              <a:gd name="adj2" fmla="val 50000"/>
            </a:avLst>
          </a:prstGeom>
          <a:solidFill>
            <a:srgbClr val="B8862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1880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11">
            <a:extLst>
              <a:ext uri="{FF2B5EF4-FFF2-40B4-BE49-F238E27FC236}">
                <a16:creationId xmlns:a16="http://schemas.microsoft.com/office/drawing/2014/main" id="{996451DA-347D-4F2F-A6F1-501CD82726B0}"/>
              </a:ext>
            </a:extLst>
          </p:cNvPr>
          <p:cNvSpPr/>
          <p:nvPr/>
        </p:nvSpPr>
        <p:spPr>
          <a:xfrm>
            <a:off x="722642" y="1339596"/>
            <a:ext cx="78815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_tradnl" sz="1500" i="1" noProof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inteligente que almacena</a:t>
            </a:r>
            <a:r>
              <a:rPr lang="es-ES_tradnl" sz="15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</a:t>
            </a:r>
            <a:r>
              <a:rPr lang="es-ES_tradnl" sz="1500" i="1" noProof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 tus notas de lectura, construye tu perfil lector y recomienda libros usando NLP, ML e IA Generativa.</a:t>
            </a:r>
            <a:endParaRPr lang="es-ES_tradnl" sz="1500" noProof="0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869CC885-52AD-F24B-D5BC-832B03CCCD17}"/>
              </a:ext>
            </a:extLst>
          </p:cNvPr>
          <p:cNvSpPr/>
          <p:nvPr/>
        </p:nvSpPr>
        <p:spPr>
          <a:xfrm>
            <a:off x="274320" y="288036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ACA4004D-51F4-69DE-6951-46A69A771DA6}"/>
              </a:ext>
            </a:extLst>
          </p:cNvPr>
          <p:cNvSpPr/>
          <p:nvPr/>
        </p:nvSpPr>
        <p:spPr>
          <a:xfrm>
            <a:off x="274320" y="2880360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77" name="Image 1" descr="preencoded.png">
            <a:extLst>
              <a:ext uri="{FF2B5EF4-FFF2-40B4-BE49-F238E27FC236}">
                <a16:creationId xmlns:a16="http://schemas.microsoft.com/office/drawing/2014/main" id="{23CCFFB6-5CB6-F9EE-A2AE-B8E9F0CB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017520"/>
            <a:ext cx="502920" cy="502920"/>
          </a:xfrm>
          <a:prstGeom prst="rect">
            <a:avLst/>
          </a:prstGeom>
        </p:spPr>
      </p:pic>
      <p:sp>
        <p:nvSpPr>
          <p:cNvPr id="78" name="Text 7">
            <a:extLst>
              <a:ext uri="{FF2B5EF4-FFF2-40B4-BE49-F238E27FC236}">
                <a16:creationId xmlns:a16="http://schemas.microsoft.com/office/drawing/2014/main" id="{576187FF-F165-EBF7-FE24-7D7088F37724}"/>
              </a:ext>
            </a:extLst>
          </p:cNvPr>
          <p:cNvSpPr/>
          <p:nvPr/>
        </p:nvSpPr>
        <p:spPr>
          <a:xfrm>
            <a:off x="3657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A1A2E"/>
                </a:solidFill>
              </a:rPr>
              <a:t>Analizar Notas</a:t>
            </a:r>
            <a:endParaRPr lang="es-ES_tradnl" sz="1100" noProof="0" dirty="0"/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0F4781C3-65B3-3161-B4B2-102EC76729D5}"/>
              </a:ext>
            </a:extLst>
          </p:cNvPr>
          <p:cNvSpPr/>
          <p:nvPr/>
        </p:nvSpPr>
        <p:spPr>
          <a:xfrm>
            <a:off x="365760" y="40050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900" noProof="0" dirty="0">
                <a:solidFill>
                  <a:srgbClr val="4A4A6A"/>
                </a:solidFill>
              </a:rPr>
              <a:t>Procesa reflexiones personales con NLP para extraer temas, emociones y patrones.</a:t>
            </a:r>
            <a:endParaRPr lang="es-ES_tradnl" sz="900" noProof="0" dirty="0"/>
          </a:p>
        </p:txBody>
      </p:sp>
      <p:sp>
        <p:nvSpPr>
          <p:cNvPr id="80" name="Shape 9">
            <a:extLst>
              <a:ext uri="{FF2B5EF4-FFF2-40B4-BE49-F238E27FC236}">
                <a16:creationId xmlns:a16="http://schemas.microsoft.com/office/drawing/2014/main" id="{6431DD8D-780D-BBED-530D-EC79152F2585}"/>
              </a:ext>
            </a:extLst>
          </p:cNvPr>
          <p:cNvSpPr/>
          <p:nvPr/>
        </p:nvSpPr>
        <p:spPr>
          <a:xfrm>
            <a:off x="2468880" y="288036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C4521741-B278-53C6-3F89-9BAAC9C56088}"/>
              </a:ext>
            </a:extLst>
          </p:cNvPr>
          <p:cNvSpPr/>
          <p:nvPr/>
        </p:nvSpPr>
        <p:spPr>
          <a:xfrm>
            <a:off x="2468880" y="2880360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82" name="Image 2" descr="preencoded.png">
            <a:extLst>
              <a:ext uri="{FF2B5EF4-FFF2-40B4-BE49-F238E27FC236}">
                <a16:creationId xmlns:a16="http://schemas.microsoft.com/office/drawing/2014/main" id="{59B6E4B9-DD41-0735-40D4-BE29A048A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017520"/>
            <a:ext cx="502920" cy="502920"/>
          </a:xfrm>
          <a:prstGeom prst="rect">
            <a:avLst/>
          </a:prstGeom>
        </p:spPr>
      </p:pic>
      <p:sp>
        <p:nvSpPr>
          <p:cNvPr id="83" name="Text 11">
            <a:extLst>
              <a:ext uri="{FF2B5EF4-FFF2-40B4-BE49-F238E27FC236}">
                <a16:creationId xmlns:a16="http://schemas.microsoft.com/office/drawing/2014/main" id="{7444FD52-0DCA-FF1E-54C4-D2AA28984338}"/>
              </a:ext>
            </a:extLst>
          </p:cNvPr>
          <p:cNvSpPr/>
          <p:nvPr/>
        </p:nvSpPr>
        <p:spPr>
          <a:xfrm>
            <a:off x="2560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A1A2E"/>
                </a:solidFill>
              </a:rPr>
              <a:t>Perfil Lector</a:t>
            </a:r>
            <a:endParaRPr lang="es-ES_tradnl" sz="1100" noProof="0" dirty="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C0A448B1-F357-4106-06E0-1FEE671353F6}"/>
              </a:ext>
            </a:extLst>
          </p:cNvPr>
          <p:cNvSpPr/>
          <p:nvPr/>
        </p:nvSpPr>
        <p:spPr>
          <a:xfrm>
            <a:off x="2560320" y="40050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900" noProof="0" dirty="0">
                <a:solidFill>
                  <a:srgbClr val="4A4A6A"/>
                </a:solidFill>
              </a:rPr>
              <a:t>Construye un mapa de preferencias usando </a:t>
            </a:r>
            <a:r>
              <a:rPr lang="es-ES_tradnl" sz="900" noProof="0" dirty="0" err="1">
                <a:solidFill>
                  <a:srgbClr val="4A4A6A"/>
                </a:solidFill>
              </a:rPr>
              <a:t>clustering</a:t>
            </a:r>
            <a:r>
              <a:rPr lang="es-ES_tradnl" sz="900" noProof="0" dirty="0">
                <a:solidFill>
                  <a:srgbClr val="4A4A6A"/>
                </a:solidFill>
              </a:rPr>
              <a:t> no supervisado (K-</a:t>
            </a:r>
            <a:r>
              <a:rPr lang="es-ES_tradnl" sz="900" noProof="0" dirty="0" err="1">
                <a:solidFill>
                  <a:srgbClr val="4A4A6A"/>
                </a:solidFill>
              </a:rPr>
              <a:t>Means</a:t>
            </a:r>
            <a:r>
              <a:rPr lang="es-ES_tradnl" sz="900" noProof="0" dirty="0">
                <a:solidFill>
                  <a:srgbClr val="4A4A6A"/>
                </a:solidFill>
              </a:rPr>
              <a:t>).</a:t>
            </a:r>
            <a:endParaRPr lang="es-ES_tradnl" sz="900" noProof="0" dirty="0"/>
          </a:p>
        </p:txBody>
      </p:sp>
      <p:sp>
        <p:nvSpPr>
          <p:cNvPr id="85" name="Shape 13">
            <a:extLst>
              <a:ext uri="{FF2B5EF4-FFF2-40B4-BE49-F238E27FC236}">
                <a16:creationId xmlns:a16="http://schemas.microsoft.com/office/drawing/2014/main" id="{1A74C879-C983-96DC-34A5-09BA5AB4BA15}"/>
              </a:ext>
            </a:extLst>
          </p:cNvPr>
          <p:cNvSpPr/>
          <p:nvPr/>
        </p:nvSpPr>
        <p:spPr>
          <a:xfrm>
            <a:off x="4663440" y="288036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6" name="Shape 14">
            <a:extLst>
              <a:ext uri="{FF2B5EF4-FFF2-40B4-BE49-F238E27FC236}">
                <a16:creationId xmlns:a16="http://schemas.microsoft.com/office/drawing/2014/main" id="{92D4EC49-0A79-F87B-FE56-0115E182F810}"/>
              </a:ext>
            </a:extLst>
          </p:cNvPr>
          <p:cNvSpPr/>
          <p:nvPr/>
        </p:nvSpPr>
        <p:spPr>
          <a:xfrm>
            <a:off x="4663440" y="2880360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81B176C7-8FF5-E7A9-C420-1A03C3F3B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017520"/>
            <a:ext cx="502920" cy="502920"/>
          </a:xfrm>
          <a:prstGeom prst="rect">
            <a:avLst/>
          </a:prstGeom>
        </p:spPr>
      </p:pic>
      <p:sp>
        <p:nvSpPr>
          <p:cNvPr id="88" name="Text 15">
            <a:extLst>
              <a:ext uri="{FF2B5EF4-FFF2-40B4-BE49-F238E27FC236}">
                <a16:creationId xmlns:a16="http://schemas.microsoft.com/office/drawing/2014/main" id="{52A08E89-D19B-8E2F-AC16-E9DAD592D940}"/>
              </a:ext>
            </a:extLst>
          </p:cNvPr>
          <p:cNvSpPr/>
          <p:nvPr/>
        </p:nvSpPr>
        <p:spPr>
          <a:xfrm>
            <a:off x="47548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A1A2E"/>
                </a:solidFill>
              </a:rPr>
              <a:t>Recomendar</a:t>
            </a:r>
            <a:endParaRPr lang="es-ES_tradnl" sz="1100" noProof="0" dirty="0"/>
          </a:p>
        </p:txBody>
      </p:sp>
      <p:sp>
        <p:nvSpPr>
          <p:cNvPr id="89" name="Text 16">
            <a:extLst>
              <a:ext uri="{FF2B5EF4-FFF2-40B4-BE49-F238E27FC236}">
                <a16:creationId xmlns:a16="http://schemas.microsoft.com/office/drawing/2014/main" id="{0C2F486F-CDAB-E4B7-EB01-620B1E25823C}"/>
              </a:ext>
            </a:extLst>
          </p:cNvPr>
          <p:cNvSpPr/>
          <p:nvPr/>
        </p:nvSpPr>
        <p:spPr>
          <a:xfrm>
            <a:off x="4754880" y="40050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900" noProof="0" dirty="0">
                <a:solidFill>
                  <a:srgbClr val="4A4A6A"/>
                </a:solidFill>
              </a:rPr>
              <a:t>Sugiere libros del catálogo (78 811 títulos) alineados con el perfil detectado.</a:t>
            </a:r>
            <a:endParaRPr lang="es-ES_tradnl" sz="900" noProof="0" dirty="0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DFF0109B-003C-1E44-5BE9-80049DFD2F01}"/>
              </a:ext>
            </a:extLst>
          </p:cNvPr>
          <p:cNvSpPr/>
          <p:nvPr/>
        </p:nvSpPr>
        <p:spPr>
          <a:xfrm>
            <a:off x="6858000" y="288036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C09295E0-CE5A-1899-D5D3-2A044E33D41A}"/>
              </a:ext>
            </a:extLst>
          </p:cNvPr>
          <p:cNvSpPr/>
          <p:nvPr/>
        </p:nvSpPr>
        <p:spPr>
          <a:xfrm>
            <a:off x="6858000" y="2880360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92" name="Image 4" descr="preencoded.png">
            <a:extLst>
              <a:ext uri="{FF2B5EF4-FFF2-40B4-BE49-F238E27FC236}">
                <a16:creationId xmlns:a16="http://schemas.microsoft.com/office/drawing/2014/main" id="{DC76FE5B-2A98-B8E2-D60D-22C8317F0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3017520"/>
            <a:ext cx="502920" cy="502920"/>
          </a:xfrm>
          <a:prstGeom prst="rect">
            <a:avLst/>
          </a:prstGeom>
        </p:spPr>
      </p:pic>
      <p:sp>
        <p:nvSpPr>
          <p:cNvPr id="93" name="Text 19">
            <a:extLst>
              <a:ext uri="{FF2B5EF4-FFF2-40B4-BE49-F238E27FC236}">
                <a16:creationId xmlns:a16="http://schemas.microsoft.com/office/drawing/2014/main" id="{B7B848C9-E53D-265F-65CB-A5A546B41A6A}"/>
              </a:ext>
            </a:extLst>
          </p:cNvPr>
          <p:cNvSpPr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b="1" noProof="0" dirty="0">
                <a:solidFill>
                  <a:srgbClr val="1A1A2E"/>
                </a:solidFill>
              </a:rPr>
              <a:t>Conversación</a:t>
            </a:r>
            <a:endParaRPr lang="es-ES_tradnl" sz="1100" noProof="0" dirty="0"/>
          </a:p>
        </p:txBody>
      </p:sp>
      <p:sp>
        <p:nvSpPr>
          <p:cNvPr id="94" name="Text 20">
            <a:extLst>
              <a:ext uri="{FF2B5EF4-FFF2-40B4-BE49-F238E27FC236}">
                <a16:creationId xmlns:a16="http://schemas.microsoft.com/office/drawing/2014/main" id="{28AF0C1A-97CE-9A4F-3CE5-F1A47691B9EA}"/>
              </a:ext>
            </a:extLst>
          </p:cNvPr>
          <p:cNvSpPr/>
          <p:nvPr/>
        </p:nvSpPr>
        <p:spPr>
          <a:xfrm>
            <a:off x="6949440" y="40050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900" noProof="0" dirty="0">
                <a:solidFill>
                  <a:srgbClr val="4A4A6A"/>
                </a:solidFill>
              </a:rPr>
              <a:t>Permite al usuario explorar sus notas pasadas mediante preguntas en lenguaje natural (RAG).</a:t>
            </a:r>
            <a:endParaRPr lang="es-ES_tradnl" sz="900" noProof="0" dirty="0"/>
          </a:p>
        </p:txBody>
      </p:sp>
      <p:sp>
        <p:nvSpPr>
          <p:cNvPr id="95" name="Shape 0">
            <a:extLst>
              <a:ext uri="{FF2B5EF4-FFF2-40B4-BE49-F238E27FC236}">
                <a16:creationId xmlns:a16="http://schemas.microsoft.com/office/drawing/2014/main" id="{9787B532-2975-4865-798B-71B432487942}"/>
              </a:ext>
            </a:extLst>
          </p:cNvPr>
          <p:cNvSpPr/>
          <p:nvPr/>
        </p:nvSpPr>
        <p:spPr>
          <a:xfrm>
            <a:off x="0" y="9144"/>
            <a:ext cx="9144000" cy="1005840"/>
          </a:xfrm>
          <a:prstGeom prst="rect">
            <a:avLst/>
          </a:prstGeom>
          <a:solidFill>
            <a:srgbClr val="1F3320"/>
          </a:solidFill>
          <a:ln w="12700">
            <a:solidFill>
              <a:srgbClr val="1F3320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6" name="Shape 1">
            <a:extLst>
              <a:ext uri="{FF2B5EF4-FFF2-40B4-BE49-F238E27FC236}">
                <a16:creationId xmlns:a16="http://schemas.microsoft.com/office/drawing/2014/main" id="{784A070A-4BA4-DD69-0D45-A05218BF2D04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8" name="Text 2">
            <a:extLst>
              <a:ext uri="{FF2B5EF4-FFF2-40B4-BE49-F238E27FC236}">
                <a16:creationId xmlns:a16="http://schemas.microsoft.com/office/drawing/2014/main" id="{6F5E0D40-7809-6131-4053-877E07DFA430}"/>
              </a:ext>
            </a:extLst>
          </p:cNvPr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400" noProof="0" dirty="0">
                <a:solidFill>
                  <a:srgbClr val="D4A74A"/>
                </a:solidFill>
              </a:rPr>
              <a:t>OBJETIVO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9144"/>
            <a:ext cx="9144000" cy="1005840"/>
          </a:xfrm>
          <a:prstGeom prst="rect">
            <a:avLst/>
          </a:prstGeom>
          <a:solidFill>
            <a:srgbClr val="1F3320"/>
          </a:solidFill>
          <a:ln w="12700">
            <a:solidFill>
              <a:srgbClr val="1F3320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400" noProof="0" dirty="0">
                <a:solidFill>
                  <a:srgbClr val="D4A74A"/>
                </a:solidFill>
              </a:rPr>
              <a:t>DATASET - EDA</a:t>
            </a:r>
            <a:endParaRPr lang="es-ES_tradnl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1F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de datos</a:t>
            </a:r>
            <a:endParaRPr lang="es-ES_tradnl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365760" y="1810512"/>
            <a:ext cx="3931920" cy="822960"/>
          </a:xfrm>
          <a:prstGeom prst="rect">
            <a:avLst/>
          </a:prstGeom>
          <a:solidFill>
            <a:srgbClr val="EEE9DF"/>
          </a:solidFill>
          <a:ln w="12700">
            <a:solidFill>
              <a:srgbClr val="E0D8C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Shape 5"/>
          <p:cNvSpPr/>
          <p:nvPr/>
        </p:nvSpPr>
        <p:spPr>
          <a:xfrm>
            <a:off x="365760" y="1810512"/>
            <a:ext cx="73152" cy="82296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2416" y="1929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1A1C1A"/>
                </a:solidFill>
              </a:rPr>
              <a:t>Google </a:t>
            </a:r>
            <a:r>
              <a:rPr lang="es-ES_tradnl" sz="1150" b="1" noProof="0" dirty="0" err="1">
                <a:solidFill>
                  <a:srgbClr val="1A1C1A"/>
                </a:solidFill>
              </a:rPr>
              <a:t>Books</a:t>
            </a:r>
            <a:r>
              <a:rPr lang="es-ES_tradnl" sz="1150" b="1" noProof="0" dirty="0">
                <a:solidFill>
                  <a:srgbClr val="1A1C1A"/>
                </a:solidFill>
              </a:rPr>
              <a:t> API</a:t>
            </a:r>
            <a:endParaRPr lang="es-ES_tradnl" sz="1150" noProof="0" dirty="0"/>
          </a:p>
        </p:txBody>
      </p:sp>
      <p:sp>
        <p:nvSpPr>
          <p:cNvPr id="12" name="Shape 8"/>
          <p:cNvSpPr/>
          <p:nvPr/>
        </p:nvSpPr>
        <p:spPr>
          <a:xfrm>
            <a:off x="365760" y="2816352"/>
            <a:ext cx="3931920" cy="822960"/>
          </a:xfrm>
          <a:prstGeom prst="rect">
            <a:avLst/>
          </a:prstGeom>
          <a:solidFill>
            <a:srgbClr val="EEE9DF"/>
          </a:solidFill>
          <a:ln w="12700">
            <a:solidFill>
              <a:srgbClr val="E0D8C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9"/>
          <p:cNvSpPr/>
          <p:nvPr/>
        </p:nvSpPr>
        <p:spPr>
          <a:xfrm>
            <a:off x="365760" y="2816352"/>
            <a:ext cx="73152" cy="822960"/>
          </a:xfrm>
          <a:prstGeom prst="rect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29241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noProof="0" dirty="0" err="1">
                <a:solidFill>
                  <a:srgbClr val="1A1C1A"/>
                </a:solidFill>
              </a:rPr>
              <a:t>Goodreads</a:t>
            </a:r>
            <a:r>
              <a:rPr lang="es-ES_tradnl" sz="1150" b="1" noProof="0" dirty="0">
                <a:solidFill>
                  <a:srgbClr val="1A1C1A"/>
                </a:solidFill>
              </a:rPr>
              <a:t> </a:t>
            </a:r>
            <a:r>
              <a:rPr lang="es-ES_tradnl" sz="1150" b="1" noProof="0" dirty="0" err="1">
                <a:solidFill>
                  <a:srgbClr val="1A1C1A"/>
                </a:solidFill>
              </a:rPr>
              <a:t>Dataset</a:t>
            </a:r>
            <a:endParaRPr lang="es-ES_tradnl" sz="1150" noProof="0" dirty="0"/>
          </a:p>
        </p:txBody>
      </p:sp>
      <p:sp>
        <p:nvSpPr>
          <p:cNvPr id="17" name="Shape 12"/>
          <p:cNvSpPr/>
          <p:nvPr/>
        </p:nvSpPr>
        <p:spPr>
          <a:xfrm>
            <a:off x="365760" y="3822192"/>
            <a:ext cx="3931920" cy="822960"/>
          </a:xfrm>
          <a:prstGeom prst="rect">
            <a:avLst/>
          </a:prstGeom>
          <a:solidFill>
            <a:srgbClr val="EEE9DF"/>
          </a:solidFill>
          <a:ln w="12700">
            <a:solidFill>
              <a:srgbClr val="E0D8C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Shape 13"/>
          <p:cNvSpPr/>
          <p:nvPr/>
        </p:nvSpPr>
        <p:spPr>
          <a:xfrm>
            <a:off x="365760" y="3822192"/>
            <a:ext cx="73152" cy="82296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1A1C1A"/>
                </a:solidFill>
              </a:rPr>
              <a:t>Notas del usuario</a:t>
            </a:r>
            <a:endParaRPr lang="es-ES_tradnl" sz="1150" noProof="0" dirty="0"/>
          </a:p>
        </p:txBody>
      </p:sp>
      <p:sp>
        <p:nvSpPr>
          <p:cNvPr id="22" name="Shape 16"/>
          <p:cNvSpPr/>
          <p:nvPr/>
        </p:nvSpPr>
        <p:spPr>
          <a:xfrm>
            <a:off x="4754880" y="1115568"/>
            <a:ext cx="4023360" cy="3749040"/>
          </a:xfrm>
          <a:prstGeom prst="rect">
            <a:avLst/>
          </a:prstGeom>
          <a:solidFill>
            <a:srgbClr val="1F3320"/>
          </a:solidFill>
          <a:ln w="12700">
            <a:solidFill>
              <a:srgbClr val="1F332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4" name="Shape 18"/>
          <p:cNvSpPr/>
          <p:nvPr/>
        </p:nvSpPr>
        <p:spPr>
          <a:xfrm>
            <a:off x="4937760" y="1810511"/>
            <a:ext cx="3566160" cy="2878089"/>
          </a:xfrm>
          <a:prstGeom prst="rect">
            <a:avLst/>
          </a:prstGeom>
          <a:solidFill>
            <a:srgbClr val="2D4A2D">
              <a:alpha val="28000"/>
            </a:srgbClr>
          </a:solidFill>
          <a:ln w="12700">
            <a:solidFill>
              <a:srgbClr val="2D4A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EDFD648B-D5DA-7967-54E6-285A18586666}"/>
              </a:ext>
            </a:extLst>
          </p:cNvPr>
          <p:cNvSpPr/>
          <p:nvPr/>
        </p:nvSpPr>
        <p:spPr>
          <a:xfrm>
            <a:off x="1024128" y="2183973"/>
            <a:ext cx="3017520" cy="368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4A6A"/>
                </a:solidFill>
              </a:rPr>
              <a:t>Consultas por género y categoría.</a:t>
            </a: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AA2FCE1D-9EB3-18DA-9753-19E1FA0E8EB4}"/>
              </a:ext>
            </a:extLst>
          </p:cNvPr>
          <p:cNvSpPr/>
          <p:nvPr/>
        </p:nvSpPr>
        <p:spPr>
          <a:xfrm>
            <a:off x="1024128" y="3145536"/>
            <a:ext cx="28199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950" dirty="0" err="1">
                <a:solidFill>
                  <a:srgbClr val="4A4A6A"/>
                </a:solidFill>
              </a:rPr>
              <a:t>Dataset</a:t>
            </a:r>
            <a:r>
              <a:rPr lang="es-ES_tradnl" sz="950" dirty="0">
                <a:solidFill>
                  <a:srgbClr val="4A4A6A"/>
                </a:solidFill>
              </a:rPr>
              <a:t> final de 78.811 libros.</a:t>
            </a: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9FC1B17D-0BC5-D48B-3C97-DA0750587CBA}"/>
              </a:ext>
            </a:extLst>
          </p:cNvPr>
          <p:cNvSpPr/>
          <p:nvPr/>
        </p:nvSpPr>
        <p:spPr>
          <a:xfrm>
            <a:off x="1042416" y="4215384"/>
            <a:ext cx="18344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4A6A"/>
                </a:solidFill>
              </a:rPr>
              <a:t>50 notas </a:t>
            </a:r>
            <a:r>
              <a:rPr lang="es-ES_tradnl" sz="950" dirty="0">
                <a:solidFill>
                  <a:srgbClr val="4A4A6A"/>
                </a:solidFill>
              </a:rPr>
              <a:t>de usuario.</a:t>
            </a:r>
            <a:endParaRPr lang="es-ES_tradnl" sz="950" noProof="0" dirty="0">
              <a:solidFill>
                <a:srgbClr val="4A4A6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FA594-60A7-D03D-62E4-75D5E249CA36}"/>
              </a:ext>
            </a:extLst>
          </p:cNvPr>
          <p:cNvSpPr txBox="1"/>
          <p:nvPr/>
        </p:nvSpPr>
        <p:spPr>
          <a:xfrm>
            <a:off x="5052520" y="2073233"/>
            <a:ext cx="3451400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Duplicados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: ~3.200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libros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eliminados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Descripciones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vacías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o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cortas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: (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mín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. 100 chars) (max. 2500 chars)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Eliminar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columnas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innecesarias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Ruido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en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notas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: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puntuación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,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stopwords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y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texto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irrelevante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eliminados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antes de </a:t>
            </a:r>
            <a:r>
              <a:rPr lang="en-GB" sz="1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vectorizar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369820AF-7D75-BCC1-0D26-95E0EE329F76}"/>
              </a:ext>
            </a:extLst>
          </p:cNvPr>
          <p:cNvSpPr/>
          <p:nvPr/>
        </p:nvSpPr>
        <p:spPr>
          <a:xfrm>
            <a:off x="49377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D4A74A"/>
                </a:solidFill>
                <a:latin typeface="Georgia" panose="02040502050405020303" pitchFamily="18" charset="0"/>
              </a:rPr>
              <a:t>Problemas encontrados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2">
            <a:extLst>
              <a:ext uri="{FF2B5EF4-FFF2-40B4-BE49-F238E27FC236}">
                <a16:creationId xmlns:a16="http://schemas.microsoft.com/office/drawing/2014/main" id="{16116F48-6A65-D9AE-4B97-30F2E203006E}"/>
              </a:ext>
            </a:extLst>
          </p:cNvPr>
          <p:cNvSpPr/>
          <p:nvPr/>
        </p:nvSpPr>
        <p:spPr>
          <a:xfrm>
            <a:off x="411480" y="551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400" noProof="0" dirty="0">
                <a:solidFill>
                  <a:srgbClr val="D4A74A"/>
                </a:solidFill>
              </a:rPr>
              <a:t>PIPELINE</a:t>
            </a:r>
            <a:endParaRPr lang="es-ES_tradnl" sz="1100" noProof="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60776F5-060F-767F-A545-E074870B5B01}"/>
              </a:ext>
            </a:extLst>
          </p:cNvPr>
          <p:cNvSpPr/>
          <p:nvPr/>
        </p:nvSpPr>
        <p:spPr>
          <a:xfrm>
            <a:off x="411480" y="443748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59D3A4E-C314-44CA-D5E8-35E24A46FA38}"/>
              </a:ext>
            </a:extLst>
          </p:cNvPr>
          <p:cNvSpPr/>
          <p:nvPr/>
        </p:nvSpPr>
        <p:spPr>
          <a:xfrm>
            <a:off x="411480" y="736092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1B94EB2-C9BA-D8D6-8829-7661D88B44BD}"/>
              </a:ext>
            </a:extLst>
          </p:cNvPr>
          <p:cNvSpPr/>
          <p:nvPr/>
        </p:nvSpPr>
        <p:spPr>
          <a:xfrm>
            <a:off x="548640" y="754380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cs typeface="Calibri" pitchFamily="34" charset="-120"/>
              </a:rPr>
              <a:t>01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72D182C-1A24-CE1E-5FC8-0453250296A7}"/>
              </a:ext>
            </a:extLst>
          </p:cNvPr>
          <p:cNvSpPr/>
          <p:nvPr/>
        </p:nvSpPr>
        <p:spPr>
          <a:xfrm>
            <a:off x="882932" y="754380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1E74CD4-250E-8C6C-0C4C-2170843AFC25}"/>
              </a:ext>
            </a:extLst>
          </p:cNvPr>
          <p:cNvSpPr/>
          <p:nvPr/>
        </p:nvSpPr>
        <p:spPr>
          <a:xfrm>
            <a:off x="5076265" y="754380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final de 78.811 libros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DC40B9F-301C-EE7D-170B-2DF4B27522FD}"/>
              </a:ext>
            </a:extLst>
          </p:cNvPr>
          <p:cNvSpPr/>
          <p:nvPr/>
        </p:nvSpPr>
        <p:spPr>
          <a:xfrm>
            <a:off x="411480" y="1449324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D1B7648-1512-3341-27DE-D0337C2DF5CD}"/>
              </a:ext>
            </a:extLst>
          </p:cNvPr>
          <p:cNvSpPr/>
          <p:nvPr/>
        </p:nvSpPr>
        <p:spPr>
          <a:xfrm>
            <a:off x="548640" y="1467612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cs typeface="Calibri" pitchFamily="34" charset="-120"/>
              </a:rPr>
              <a:t>02</a:t>
            </a: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3754C37-67CA-2BD0-B3EF-EBC405AE6099}"/>
              </a:ext>
            </a:extLst>
          </p:cNvPr>
          <p:cNvSpPr/>
          <p:nvPr/>
        </p:nvSpPr>
        <p:spPr>
          <a:xfrm>
            <a:off x="882932" y="1467612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Notas del Usuario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1B2AD427-755E-7E19-7B35-FC2D01C5350F}"/>
              </a:ext>
            </a:extLst>
          </p:cNvPr>
          <p:cNvSpPr/>
          <p:nvPr/>
        </p:nvSpPr>
        <p:spPr>
          <a:xfrm>
            <a:off x="3081528" y="1467612"/>
            <a:ext cx="209559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notes_manager.py</a:t>
            </a:r>
            <a:endParaRPr lang="en-US" sz="1000" dirty="0">
              <a:solidFill>
                <a:srgbClr val="B8862A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8EB627D2-AF32-7EAF-6C9B-6294B9BF93E8}"/>
              </a:ext>
            </a:extLst>
          </p:cNvPr>
          <p:cNvSpPr/>
          <p:nvPr/>
        </p:nvSpPr>
        <p:spPr>
          <a:xfrm>
            <a:off x="5076265" y="1467612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reutilizable para captura y persistencia de notas personales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63D740E0-9B90-443C-022B-7F3C10253C76}"/>
              </a:ext>
            </a:extLst>
          </p:cNvPr>
          <p:cNvSpPr/>
          <p:nvPr/>
        </p:nvSpPr>
        <p:spPr>
          <a:xfrm>
            <a:off x="411480" y="2162556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CF6ACB85-F6F8-422C-CDCD-1E89C2DD31DF}"/>
              </a:ext>
            </a:extLst>
          </p:cNvPr>
          <p:cNvSpPr/>
          <p:nvPr/>
        </p:nvSpPr>
        <p:spPr>
          <a:xfrm>
            <a:off x="548640" y="2180844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C86CE46F-73E8-8D29-E80B-E6533DB37B6E}"/>
              </a:ext>
            </a:extLst>
          </p:cNvPr>
          <p:cNvSpPr/>
          <p:nvPr/>
        </p:nvSpPr>
        <p:spPr>
          <a:xfrm>
            <a:off x="882932" y="2180844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5CE0F0F1-FBED-A925-0E00-61D64BFC4375}"/>
              </a:ext>
            </a:extLst>
          </p:cNvPr>
          <p:cNvSpPr/>
          <p:nvPr/>
        </p:nvSpPr>
        <p:spPr>
          <a:xfrm>
            <a:off x="3081528" y="2180844"/>
            <a:ext cx="209559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(sklearn)  ·  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all-mpnet-base-v2 (768d)</a:t>
            </a:r>
            <a:endParaRPr lang="en-US" sz="1000" dirty="0">
              <a:solidFill>
                <a:srgbClr val="B8862A"/>
              </a:solidFill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53F2FC1-7240-B9E2-09D9-1CA43E0659AF}"/>
              </a:ext>
            </a:extLst>
          </p:cNvPr>
          <p:cNvSpPr/>
          <p:nvPr/>
        </p:nvSpPr>
        <p:spPr>
          <a:xfrm>
            <a:off x="5076265" y="2180844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las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descripciones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TF-IDF captura el vocabulario más usado;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BERT captura la semántica profunda (significado).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BCAAAA90-6B17-A9D6-2206-2657BD1EB9D5}"/>
              </a:ext>
            </a:extLst>
          </p:cNvPr>
          <p:cNvSpPr/>
          <p:nvPr/>
        </p:nvSpPr>
        <p:spPr>
          <a:xfrm>
            <a:off x="411480" y="2875788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451C39C8-F202-9149-2153-5928EE70CA7D}"/>
              </a:ext>
            </a:extLst>
          </p:cNvPr>
          <p:cNvSpPr/>
          <p:nvPr/>
        </p:nvSpPr>
        <p:spPr>
          <a:xfrm>
            <a:off x="548640" y="2894076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cs typeface="Calibri" pitchFamily="34" charset="-120"/>
              </a:rPr>
              <a:t>04</a:t>
            </a: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DA8EE27-3175-1515-9FFD-A73F75237636}"/>
              </a:ext>
            </a:extLst>
          </p:cNvPr>
          <p:cNvSpPr/>
          <p:nvPr/>
        </p:nvSpPr>
        <p:spPr>
          <a:xfrm>
            <a:off x="882932" y="2894076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F8468B9E-720C-4C6E-2E1B-75A4EC5E03F2}"/>
              </a:ext>
            </a:extLst>
          </p:cNvPr>
          <p:cNvSpPr/>
          <p:nvPr/>
        </p:nvSpPr>
        <p:spPr>
          <a:xfrm>
            <a:off x="3081528" y="2894076"/>
            <a:ext cx="209559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1000" i="1" dirty="0" err="1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K-Means </a:t>
            </a:r>
          </a:p>
          <a:p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000" dirty="0">
              <a:solidFill>
                <a:srgbClr val="B8862A"/>
              </a:solidFill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41F1A46A-7679-4DA8-4517-973A50737208}"/>
              </a:ext>
            </a:extLst>
          </p:cNvPr>
          <p:cNvSpPr/>
          <p:nvPr/>
        </p:nvSpPr>
        <p:spPr>
          <a:xfrm>
            <a:off x="5076265" y="2894076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libros del lector en clusters temáticos.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cluster calculamos un vector centroide.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55224D01-8DC9-3918-3CE5-F000D90D4818}"/>
              </a:ext>
            </a:extLst>
          </p:cNvPr>
          <p:cNvSpPr/>
          <p:nvPr/>
        </p:nvSpPr>
        <p:spPr>
          <a:xfrm>
            <a:off x="411480" y="3589020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529621C7-0F62-36F3-E0E9-371FFBBA729B}"/>
              </a:ext>
            </a:extLst>
          </p:cNvPr>
          <p:cNvSpPr/>
          <p:nvPr/>
        </p:nvSpPr>
        <p:spPr>
          <a:xfrm>
            <a:off x="548640" y="3607308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cs typeface="Calibri" pitchFamily="34" charset="-120"/>
              </a:rPr>
              <a:t>05</a:t>
            </a:r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701E8632-1FFD-819D-D7E8-C5DE5E608A14}"/>
              </a:ext>
            </a:extLst>
          </p:cNvPr>
          <p:cNvSpPr/>
          <p:nvPr/>
        </p:nvSpPr>
        <p:spPr>
          <a:xfrm>
            <a:off x="882932" y="3607308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274B934E-03CD-5965-F4CE-E749E5CE40F2}"/>
              </a:ext>
            </a:extLst>
          </p:cNvPr>
          <p:cNvSpPr/>
          <p:nvPr/>
        </p:nvSpPr>
        <p:spPr>
          <a:xfrm>
            <a:off x="3081528" y="3607308"/>
            <a:ext cx="209559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>
              <a:solidFill>
                <a:srgbClr val="B8862A"/>
              </a:solidFill>
            </a:endParaRPr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3C8418E4-1F1C-4F80-1395-DDCC65A03EFD}"/>
              </a:ext>
            </a:extLst>
          </p:cNvPr>
          <p:cNvSpPr/>
          <p:nvPr/>
        </p:nvSpPr>
        <p:spPr>
          <a:xfrm>
            <a:off x="5076265" y="3607308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los centroides del perfil lector contra el catálogo de libros para encontrar los títulos más similares semánticamente.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14C30B20-C0CC-84FF-0BE2-AFFE2B6B2D42}"/>
              </a:ext>
            </a:extLst>
          </p:cNvPr>
          <p:cNvSpPr/>
          <p:nvPr/>
        </p:nvSpPr>
        <p:spPr>
          <a:xfrm>
            <a:off x="411480" y="4302252"/>
            <a:ext cx="8412480" cy="658368"/>
          </a:xfrm>
          <a:prstGeom prst="rect">
            <a:avLst/>
          </a:prstGeom>
          <a:solidFill>
            <a:srgbClr val="F5F2E8"/>
          </a:solidFill>
          <a:ln w="6350">
            <a:solidFill>
              <a:srgbClr val="1E2A3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ES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24854E74-7122-283D-0FCD-BE4C189688EF}"/>
              </a:ext>
            </a:extLst>
          </p:cNvPr>
          <p:cNvSpPr/>
          <p:nvPr/>
        </p:nvSpPr>
        <p:spPr>
          <a:xfrm>
            <a:off x="548640" y="4320540"/>
            <a:ext cx="475488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  <a:latin typeface="Calibri" pitchFamily="34" charset="0"/>
                <a:cs typeface="Calibri" pitchFamily="34" charset="-120"/>
              </a:rPr>
              <a:t>06</a:t>
            </a:r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1EACB789-D5AC-EB1C-CBB2-1B4241BD78EC}"/>
              </a:ext>
            </a:extLst>
          </p:cNvPr>
          <p:cNvSpPr/>
          <p:nvPr/>
        </p:nvSpPr>
        <p:spPr>
          <a:xfrm>
            <a:off x="882932" y="4320540"/>
            <a:ext cx="201168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>
              <a:solidFill>
                <a:srgbClr val="1F331F"/>
              </a:solidFill>
            </a:endParaRPr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9E8A3E8C-B71B-9B5B-0C43-8C1C68580DD4}"/>
              </a:ext>
            </a:extLst>
          </p:cNvPr>
          <p:cNvSpPr/>
          <p:nvPr/>
        </p:nvSpPr>
        <p:spPr>
          <a:xfrm>
            <a:off x="3081528" y="4320540"/>
            <a:ext cx="2095590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10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OpenAI API </a:t>
            </a:r>
            <a:endParaRPr lang="en-US" sz="1000" dirty="0">
              <a:solidFill>
                <a:srgbClr val="B8862A"/>
              </a:solidFill>
            </a:endParaRPr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E295E82B-7BE2-1975-4481-A90B0D090DD0}"/>
              </a:ext>
            </a:extLst>
          </p:cNvPr>
          <p:cNvSpPr/>
          <p:nvPr/>
        </p:nvSpPr>
        <p:spPr>
          <a:xfrm>
            <a:off x="5076265" y="4320540"/>
            <a:ext cx="3656255" cy="621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F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motor conversacional que permite al usuario dialogar con sus propias notas.</a:t>
            </a:r>
            <a:endParaRPr lang="en-US" sz="1000" dirty="0">
              <a:solidFill>
                <a:srgbClr val="1F331F"/>
              </a:solidFill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A88E41DA-3136-17DE-DBB5-D84465C1B497}"/>
              </a:ext>
            </a:extLst>
          </p:cNvPr>
          <p:cNvSpPr/>
          <p:nvPr/>
        </p:nvSpPr>
        <p:spPr>
          <a:xfrm>
            <a:off x="548640" y="580644"/>
            <a:ext cx="475488" cy="18288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850" kern="0" spc="1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50" dirty="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47836602-DB7F-4F82-8940-591FEAC409B4}"/>
              </a:ext>
            </a:extLst>
          </p:cNvPr>
          <p:cNvSpPr/>
          <p:nvPr/>
        </p:nvSpPr>
        <p:spPr>
          <a:xfrm>
            <a:off x="1024128" y="580644"/>
            <a:ext cx="2011680" cy="18288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850" kern="0" spc="1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85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B9EE5538-3474-43D4-DF34-5101A6A97A6F}"/>
              </a:ext>
            </a:extLst>
          </p:cNvPr>
          <p:cNvSpPr/>
          <p:nvPr/>
        </p:nvSpPr>
        <p:spPr>
          <a:xfrm>
            <a:off x="3081528" y="580644"/>
            <a:ext cx="2743200" cy="18288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850" kern="0" spc="1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850" dirty="0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923DE314-347C-7B60-8758-D5C2737EE40F}"/>
              </a:ext>
            </a:extLst>
          </p:cNvPr>
          <p:cNvSpPr/>
          <p:nvPr/>
        </p:nvSpPr>
        <p:spPr>
          <a:xfrm>
            <a:off x="5870448" y="580644"/>
            <a:ext cx="3026664" cy="18288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850" kern="0" spc="1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111830" y="2571750"/>
            <a:ext cx="2011680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538"/>
            <a:ext cx="9144000" cy="1005840"/>
          </a:xfrm>
          <a:prstGeom prst="rect">
            <a:avLst/>
          </a:prstGeom>
          <a:solidFill>
            <a:srgbClr val="1F3320"/>
          </a:solidFill>
          <a:ln w="12700">
            <a:solidFill>
              <a:srgbClr val="1F3320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400" noProof="0" dirty="0">
                <a:solidFill>
                  <a:srgbClr val="0F6B6B"/>
                </a:solidFill>
              </a:rPr>
              <a:t>DEMO — CASO EJEMPLO (LIVE REVIEW)</a:t>
            </a:r>
            <a:endParaRPr lang="es-ES_tradnl" sz="1100" noProof="0" dirty="0"/>
          </a:p>
        </p:txBody>
      </p:sp>
      <p:sp>
        <p:nvSpPr>
          <p:cNvPr id="27" name="Text 24"/>
          <p:cNvSpPr/>
          <p:nvPr/>
        </p:nvSpPr>
        <p:spPr>
          <a:xfrm>
            <a:off x="2461574" y="2215537"/>
            <a:ext cx="331219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50" b="1" noProof="0" dirty="0">
                <a:solidFill>
                  <a:srgbClr val="0F6B6B"/>
                </a:solidFill>
              </a:rPr>
              <a:t>🔗  marginalia-literary-assistant.streamlit.app</a:t>
            </a:r>
            <a:endParaRPr lang="es-ES_tradnl" sz="1050" noProof="0" dirty="0"/>
          </a:p>
        </p:txBody>
      </p:sp>
      <p:sp>
        <p:nvSpPr>
          <p:cNvPr id="6" name="Text 41">
            <a:extLst>
              <a:ext uri="{FF2B5EF4-FFF2-40B4-BE49-F238E27FC236}">
                <a16:creationId xmlns:a16="http://schemas.microsoft.com/office/drawing/2014/main" id="{31674BC5-B405-A893-2CDD-72FB4C82CA7C}"/>
              </a:ext>
            </a:extLst>
          </p:cNvPr>
          <p:cNvSpPr/>
          <p:nvPr/>
        </p:nvSpPr>
        <p:spPr>
          <a:xfrm>
            <a:off x="1728878" y="1812798"/>
            <a:ext cx="47775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900" i="1" noProof="0" dirty="0" err="1"/>
              <a:t>Frontend</a:t>
            </a:r>
            <a:r>
              <a:rPr lang="es-ES_tradnl" sz="900" i="1" noProof="0" dirty="0"/>
              <a:t> — desplegado en </a:t>
            </a:r>
            <a:r>
              <a:rPr lang="es-ES_tradnl" sz="900" i="1" noProof="0" dirty="0" err="1"/>
              <a:t>Streamlit</a:t>
            </a:r>
            <a:r>
              <a:rPr lang="es-ES_tradnl" sz="900" i="1" noProof="0" dirty="0"/>
              <a:t> </a:t>
            </a:r>
            <a:r>
              <a:rPr lang="es-ES_tradnl" sz="900" i="1" noProof="0" dirty="0" err="1"/>
              <a:t>Community</a:t>
            </a:r>
            <a:r>
              <a:rPr lang="es-ES_tradnl" sz="900" i="1" noProof="0" dirty="0"/>
              <a:t> Cloud + </a:t>
            </a:r>
            <a:r>
              <a:rPr lang="es-ES_tradnl" sz="900" i="1" noProof="0" dirty="0" err="1"/>
              <a:t>HuggingFace</a:t>
            </a:r>
            <a:r>
              <a:rPr lang="es-ES_tradnl" sz="900" i="1" noProof="0" dirty="0"/>
              <a:t> </a:t>
            </a:r>
            <a:r>
              <a:rPr lang="es-ES_tradnl" sz="900" i="1" noProof="0" dirty="0" err="1"/>
              <a:t>Datasets</a:t>
            </a:r>
            <a:endParaRPr lang="es-ES_tradnl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949440" y="91440"/>
            <a:ext cx="2011680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400" noProof="0" dirty="0">
                <a:solidFill>
                  <a:srgbClr val="FFFFFF"/>
                </a:solidFill>
              </a:rPr>
              <a:t>MEJORAS FUTURAS</a:t>
            </a:r>
            <a:endParaRPr lang="es-ES_tradnl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069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4069080" cy="64008"/>
          </a:xfrm>
          <a:prstGeom prst="rect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3441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307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50" b="1" noProof="0" dirty="0">
                <a:solidFill>
                  <a:srgbClr val="1F3320"/>
                </a:solidFill>
              </a:rPr>
              <a:t>Escalabilidad</a:t>
            </a:r>
            <a:endParaRPr lang="es-ES_tradnl" sz="1250" noProof="0" dirty="0"/>
          </a:p>
        </p:txBody>
      </p:sp>
      <p:sp>
        <p:nvSpPr>
          <p:cNvPr id="10" name="Text 6"/>
          <p:cNvSpPr/>
          <p:nvPr/>
        </p:nvSpPr>
        <p:spPr>
          <a:xfrm>
            <a:off x="438912" y="18379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Base vectorial con FAISS / </a:t>
            </a:r>
            <a:r>
              <a:rPr lang="es-ES_tradnl" sz="950" noProof="0" dirty="0" err="1">
                <a:solidFill>
                  <a:srgbClr val="4A5248"/>
                </a:solidFill>
              </a:rPr>
              <a:t>Pinecone</a:t>
            </a:r>
            <a:endParaRPr lang="es-ES_tradnl" sz="950" noProof="0" dirty="0"/>
          </a:p>
        </p:txBody>
      </p:sp>
      <p:sp>
        <p:nvSpPr>
          <p:cNvPr id="11" name="Text 7"/>
          <p:cNvSpPr/>
          <p:nvPr/>
        </p:nvSpPr>
        <p:spPr>
          <a:xfrm>
            <a:off x="438912" y="21671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Catálogo expandido a +500K libros</a:t>
            </a:r>
            <a:endParaRPr lang="es-ES_tradnl" sz="950" noProof="0" dirty="0"/>
          </a:p>
        </p:txBody>
      </p:sp>
      <p:sp>
        <p:nvSpPr>
          <p:cNvPr id="12" name="Text 8"/>
          <p:cNvSpPr/>
          <p:nvPr/>
        </p:nvSpPr>
        <p:spPr>
          <a:xfrm>
            <a:off x="438912" y="24963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Pipeline incremental en </a:t>
            </a:r>
            <a:r>
              <a:rPr lang="es-ES_tradnl" sz="950" noProof="0" dirty="0" err="1">
                <a:solidFill>
                  <a:srgbClr val="4A5248"/>
                </a:solidFill>
              </a:rPr>
              <a:t>cloud</a:t>
            </a:r>
            <a:r>
              <a:rPr lang="es-ES_tradnl" sz="950" noProof="0" dirty="0">
                <a:solidFill>
                  <a:srgbClr val="4A5248"/>
                </a:solidFill>
              </a:rPr>
              <a:t> (AWS / GCP)</a:t>
            </a:r>
            <a:endParaRPr lang="es-ES_tradnl" sz="950" noProof="0" dirty="0"/>
          </a:p>
        </p:txBody>
      </p:sp>
      <p:sp>
        <p:nvSpPr>
          <p:cNvPr id="13" name="Shape 9"/>
          <p:cNvSpPr/>
          <p:nvPr/>
        </p:nvSpPr>
        <p:spPr>
          <a:xfrm>
            <a:off x="4709160" y="1143000"/>
            <a:ext cx="4069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0"/>
          <p:cNvSpPr/>
          <p:nvPr/>
        </p:nvSpPr>
        <p:spPr>
          <a:xfrm>
            <a:off x="4709160" y="1143000"/>
            <a:ext cx="4069080" cy="64008"/>
          </a:xfrm>
          <a:prstGeom prst="rect">
            <a:avLst/>
          </a:prstGeom>
          <a:solidFill>
            <a:srgbClr val="8B6FCE"/>
          </a:solidFill>
          <a:ln w="12700">
            <a:solidFill>
              <a:srgbClr val="8B6FCE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3441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67528" y="1307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50" b="1" noProof="0" dirty="0">
                <a:solidFill>
                  <a:srgbClr val="1F3320"/>
                </a:solidFill>
              </a:rPr>
              <a:t>Modelo</a:t>
            </a:r>
            <a:endParaRPr lang="es-ES_tradnl" sz="1250" noProof="0" dirty="0"/>
          </a:p>
        </p:txBody>
      </p:sp>
      <p:sp>
        <p:nvSpPr>
          <p:cNvPr id="17" name="Text 12"/>
          <p:cNvSpPr/>
          <p:nvPr/>
        </p:nvSpPr>
        <p:spPr>
          <a:xfrm>
            <a:off x="4873752" y="18379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Fine-</a:t>
            </a:r>
            <a:r>
              <a:rPr lang="es-ES_tradnl" sz="950" noProof="0" dirty="0" err="1">
                <a:solidFill>
                  <a:srgbClr val="4A5248"/>
                </a:solidFill>
              </a:rPr>
              <a:t>tuning</a:t>
            </a:r>
            <a:r>
              <a:rPr lang="es-ES_tradnl" sz="950" noProof="0" dirty="0">
                <a:solidFill>
                  <a:srgbClr val="4A5248"/>
                </a:solidFill>
              </a:rPr>
              <a:t> de BERT en textos literarios</a:t>
            </a:r>
            <a:endParaRPr lang="es-ES_tradnl" sz="950" noProof="0" dirty="0"/>
          </a:p>
        </p:txBody>
      </p:sp>
      <p:sp>
        <p:nvSpPr>
          <p:cNvPr id="18" name="Text 13"/>
          <p:cNvSpPr/>
          <p:nvPr/>
        </p:nvSpPr>
        <p:spPr>
          <a:xfrm>
            <a:off x="4873752" y="21671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Multilenguaje (ES/EN/FR)</a:t>
            </a:r>
            <a:endParaRPr lang="es-ES_tradnl" sz="950" noProof="0" dirty="0"/>
          </a:p>
        </p:txBody>
      </p:sp>
      <p:sp>
        <p:nvSpPr>
          <p:cNvPr id="19" name="Text 14"/>
          <p:cNvSpPr/>
          <p:nvPr/>
        </p:nvSpPr>
        <p:spPr>
          <a:xfrm>
            <a:off x="4873752" y="24963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s-ES_tradnl" sz="950" noProof="0" dirty="0"/>
          </a:p>
        </p:txBody>
      </p:sp>
      <p:sp>
        <p:nvSpPr>
          <p:cNvPr id="20" name="Shape 15"/>
          <p:cNvSpPr/>
          <p:nvPr/>
        </p:nvSpPr>
        <p:spPr>
          <a:xfrm>
            <a:off x="274320" y="3081528"/>
            <a:ext cx="4069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1" name="Shape 16"/>
          <p:cNvSpPr/>
          <p:nvPr/>
        </p:nvSpPr>
        <p:spPr>
          <a:xfrm>
            <a:off x="274320" y="3081528"/>
            <a:ext cx="4069080" cy="64008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2826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3246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50" b="1" noProof="0" dirty="0">
                <a:solidFill>
                  <a:srgbClr val="1F3320"/>
                </a:solidFill>
              </a:rPr>
              <a:t>Funciones</a:t>
            </a:r>
            <a:endParaRPr lang="es-ES_tradnl" sz="1250" noProof="0" dirty="0"/>
          </a:p>
        </p:txBody>
      </p:sp>
      <p:sp>
        <p:nvSpPr>
          <p:cNvPr id="24" name="Text 18"/>
          <p:cNvSpPr/>
          <p:nvPr/>
        </p:nvSpPr>
        <p:spPr>
          <a:xfrm>
            <a:off x="438912" y="37764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Diario de lectura personal</a:t>
            </a:r>
            <a:endParaRPr lang="es-ES_tradnl" sz="950" noProof="0" dirty="0"/>
          </a:p>
        </p:txBody>
      </p:sp>
      <p:sp>
        <p:nvSpPr>
          <p:cNvPr id="25" name="Text 19"/>
          <p:cNvSpPr/>
          <p:nvPr/>
        </p:nvSpPr>
        <p:spPr>
          <a:xfrm>
            <a:off x="438912" y="41056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Modo 'redescubrir': notas olvidadas</a:t>
            </a:r>
            <a:endParaRPr lang="es-ES_tradnl" sz="950" noProof="0" dirty="0"/>
          </a:p>
        </p:txBody>
      </p:sp>
      <p:sp>
        <p:nvSpPr>
          <p:cNvPr id="26" name="Text 20"/>
          <p:cNvSpPr/>
          <p:nvPr/>
        </p:nvSpPr>
        <p:spPr>
          <a:xfrm>
            <a:off x="438912" y="44348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Exportar perfil lector como PDF</a:t>
            </a:r>
            <a:endParaRPr lang="es-ES_tradnl" sz="950" noProof="0" dirty="0"/>
          </a:p>
        </p:txBody>
      </p:sp>
      <p:sp>
        <p:nvSpPr>
          <p:cNvPr id="27" name="Shape 21"/>
          <p:cNvSpPr/>
          <p:nvPr/>
        </p:nvSpPr>
        <p:spPr>
          <a:xfrm>
            <a:off x="4709160" y="3081528"/>
            <a:ext cx="4069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8" name="Shape 22"/>
          <p:cNvSpPr/>
          <p:nvPr/>
        </p:nvSpPr>
        <p:spPr>
          <a:xfrm>
            <a:off x="4709160" y="3081528"/>
            <a:ext cx="4069080" cy="64008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282696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67528" y="3246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50" b="1" noProof="0" dirty="0">
                <a:solidFill>
                  <a:srgbClr val="1F3320"/>
                </a:solidFill>
              </a:rPr>
              <a:t>Otras áreas</a:t>
            </a:r>
            <a:endParaRPr lang="es-ES_tradnl" sz="1250" noProof="0" dirty="0"/>
          </a:p>
        </p:txBody>
      </p:sp>
      <p:sp>
        <p:nvSpPr>
          <p:cNvPr id="31" name="Text 24"/>
          <p:cNvSpPr/>
          <p:nvPr/>
        </p:nvSpPr>
        <p:spPr>
          <a:xfrm>
            <a:off x="4873752" y="37764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Películas y series (perfil cinematográfico)</a:t>
            </a:r>
            <a:endParaRPr lang="es-ES_tradnl" sz="950" noProof="0" dirty="0"/>
          </a:p>
        </p:txBody>
      </p:sp>
      <p:sp>
        <p:nvSpPr>
          <p:cNvPr id="32" name="Text 25"/>
          <p:cNvSpPr/>
          <p:nvPr/>
        </p:nvSpPr>
        <p:spPr>
          <a:xfrm>
            <a:off x="4873752" y="41056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Música (</a:t>
            </a:r>
            <a:r>
              <a:rPr lang="es-ES_tradnl" sz="950" noProof="0" dirty="0" err="1">
                <a:solidFill>
                  <a:srgbClr val="4A5248"/>
                </a:solidFill>
              </a:rPr>
              <a:t>playlists</a:t>
            </a:r>
            <a:r>
              <a:rPr lang="es-ES_tradnl" sz="950" noProof="0" dirty="0">
                <a:solidFill>
                  <a:srgbClr val="4A5248"/>
                </a:solidFill>
              </a:rPr>
              <a:t> según estado emocional)</a:t>
            </a:r>
            <a:endParaRPr lang="es-ES_tradnl" sz="950" noProof="0" dirty="0"/>
          </a:p>
        </p:txBody>
      </p:sp>
      <p:sp>
        <p:nvSpPr>
          <p:cNvPr id="33" name="Text 26"/>
          <p:cNvSpPr/>
          <p:nvPr/>
        </p:nvSpPr>
        <p:spPr>
          <a:xfrm>
            <a:off x="4873752" y="44348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4A5248"/>
                </a:solidFill>
              </a:rPr>
              <a:t>→  Educación: lectura obligatoria personalizada</a:t>
            </a:r>
            <a:endParaRPr lang="es-ES_tradnl" sz="9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64877" y="-946404"/>
            <a:ext cx="5486400" cy="5486400"/>
          </a:xfrm>
          <a:prstGeom prst="ellipse">
            <a:avLst/>
          </a:prstGeom>
          <a:solidFill>
            <a:srgbClr val="2D4A2D">
              <a:alpha val="18000"/>
            </a:srgbClr>
          </a:solidFill>
          <a:ln w="12700">
            <a:solidFill>
              <a:srgbClr val="2D4A2D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B8862B">
              <a:alpha val="12000"/>
            </a:srgbClr>
          </a:solidFill>
          <a:ln w="12700">
            <a:solidFill>
              <a:srgbClr val="B8862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500" noProof="0" dirty="0">
                <a:solidFill>
                  <a:srgbClr val="D4A74A"/>
                </a:solidFill>
              </a:rPr>
              <a:t>CONCLUSIONES</a:t>
            </a:r>
            <a:endParaRPr lang="es-ES_tradnl" sz="11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64CDC-B894-89BF-E9D5-ADA4BB66C785}"/>
              </a:ext>
            </a:extLst>
          </p:cNvPr>
          <p:cNvSpPr txBox="1"/>
          <p:nvPr/>
        </p:nvSpPr>
        <p:spPr>
          <a:xfrm>
            <a:off x="1474605" y="1321808"/>
            <a:ext cx="5755610" cy="1864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Más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allá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del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ejercicio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técnico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, Marginalia ha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demostrado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utilidad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real: ha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sido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la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herramienta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con la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que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he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descubierto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nuevos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libros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alineados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con mis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intereses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de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lectura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más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profundos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, no solo con mis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géneros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habituales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"/>
              </a:spcBef>
            </a:pPr>
            <a:endParaRPr lang="en-GB" sz="1100" i="1" dirty="0">
              <a:solidFill>
                <a:srgbClr val="E8DCB9"/>
              </a:solidFill>
              <a:latin typeface="Georgia" pitchFamily="34" charset="0"/>
            </a:endParaRPr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El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resultado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es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una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aplicación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desplegada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y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funcional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que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integra TF-IDF, BERT, K-Means,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similitud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coseno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y RAG con GPT-4o de forma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coherente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, con un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caso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de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uso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claro y un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impacto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tangible para </a:t>
            </a:r>
            <a:r>
              <a:rPr lang="en-GB" sz="1100" i="1" dirty="0" err="1">
                <a:solidFill>
                  <a:srgbClr val="E8DCB9"/>
                </a:solidFill>
                <a:latin typeface="Georgia" pitchFamily="34" charset="0"/>
              </a:rPr>
              <a:t>cualquier</a:t>
            </a:r>
            <a:r>
              <a:rPr lang="en-GB" sz="1100" i="1" dirty="0">
                <a:solidFill>
                  <a:srgbClr val="E8DCB9"/>
                </a:solidFill>
                <a:latin typeface="Georgia" pitchFamily="34" charset="0"/>
              </a:rPr>
              <a:t> lector curioso.</a:t>
            </a:r>
            <a:endParaRPr lang="en-ES" sz="1100" i="1" dirty="0">
              <a:solidFill>
                <a:srgbClr val="E8DCB9"/>
              </a:solidFill>
              <a:latin typeface="Georgi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3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4476-30CA-6ECF-3F6A-22B722E2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C48386-6B14-3454-AF3C-B0853C5132AC}"/>
              </a:ext>
            </a:extLst>
          </p:cNvPr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2D4A2D">
              <a:alpha val="18000"/>
            </a:srgbClr>
          </a:solidFill>
          <a:ln w="12700">
            <a:solidFill>
              <a:srgbClr val="2D4A2D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52E1BB-9E54-8C7F-4215-5C3DBC274B02}"/>
              </a:ext>
            </a:extLst>
          </p:cNvPr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B8862B">
              <a:alpha val="12000"/>
            </a:srgbClr>
          </a:solidFill>
          <a:ln w="12700">
            <a:solidFill>
              <a:srgbClr val="B8862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3AF884-8330-665D-1E55-EEA23A4E12D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E9D115B-8C1B-A5AD-0421-A58D3FC08F50}"/>
              </a:ext>
            </a:extLst>
          </p:cNvPr>
          <p:cNvSpPr/>
          <p:nvPr/>
        </p:nvSpPr>
        <p:spPr>
          <a:xfrm>
            <a:off x="717336" y="588818"/>
            <a:ext cx="72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b="1" kern="0" spc="500" dirty="0">
                <a:solidFill>
                  <a:srgbClr val="C8922A"/>
                </a:solidFill>
                <a:latin typeface="Georgia" pitchFamily="34" charset="0"/>
              </a:rPr>
              <a:t>AGRADECIMIENTOS</a:t>
            </a:r>
            <a:endParaRPr lang="es-ES_tradnl" sz="1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A44DE-6B51-CDC7-63C4-D6E1A67F5AED}"/>
              </a:ext>
            </a:extLst>
          </p:cNvPr>
          <p:cNvSpPr txBox="1"/>
          <p:nvPr/>
        </p:nvSpPr>
        <p:spPr>
          <a:xfrm>
            <a:off x="514800" y="1636216"/>
            <a:ext cx="76572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s-ES_tradnl" sz="1100" i="1" dirty="0">
                <a:solidFill>
                  <a:srgbClr val="E8DCB9"/>
                </a:solidFill>
                <a:latin typeface="Georgia" pitchFamily="34" charset="0"/>
              </a:rPr>
              <a:t>Al profesor Carlos Danino por su paciencia y dedicación en cada clase.</a:t>
            </a:r>
          </a:p>
          <a:p>
            <a:pPr algn="ctr">
              <a:buNone/>
            </a:pPr>
            <a:r>
              <a:rPr lang="es-ES_tradnl" sz="1100" i="1" dirty="0">
                <a:solidFill>
                  <a:srgbClr val="E8DCB9"/>
                </a:solidFill>
                <a:latin typeface="Georgia" pitchFamily="34" charset="0"/>
              </a:rPr>
              <a:t>A mis compañeros, por su ayuda y por hacer las clases tan divertidas.</a:t>
            </a: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D09C205E-BDB2-0102-FF4C-09E92782B77A}"/>
              </a:ext>
            </a:extLst>
          </p:cNvPr>
          <p:cNvSpPr/>
          <p:nvPr/>
        </p:nvSpPr>
        <p:spPr>
          <a:xfrm>
            <a:off x="2343600" y="2766060"/>
            <a:ext cx="3657600" cy="12700"/>
          </a:xfrm>
          <a:prstGeom prst="rect">
            <a:avLst/>
          </a:prstGeom>
          <a:solidFill>
            <a:srgbClr val="C8922A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0" name="Quote 51">
            <a:extLst>
              <a:ext uri="{FF2B5EF4-FFF2-40B4-BE49-F238E27FC236}">
                <a16:creationId xmlns:a16="http://schemas.microsoft.com/office/drawing/2014/main" id="{59B65577-0450-2A0B-D995-183375C38794}"/>
              </a:ext>
            </a:extLst>
          </p:cNvPr>
          <p:cNvSpPr txBox="1"/>
          <p:nvPr/>
        </p:nvSpPr>
        <p:spPr>
          <a:xfrm>
            <a:off x="514800" y="2880360"/>
            <a:ext cx="7657200" cy="1371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s-ES_tradnl" sz="1000" i="1" dirty="0">
                <a:solidFill>
                  <a:srgbClr val="C8922A"/>
                </a:solidFill>
                <a:latin typeface="Georgia" pitchFamily="34" charset="0"/>
              </a:rPr>
              <a:t>“Live as if you were to die tomorrow. Learn as if you were to live forever.”</a:t>
            </a:r>
          </a:p>
          <a:p>
            <a:pPr algn="ctr">
              <a:buNone/>
            </a:pPr>
            <a:r>
              <a:rPr lang="es-ES_tradnl" sz="850" dirty="0">
                <a:solidFill>
                  <a:srgbClr val="B8B89A"/>
                </a:solidFill>
                <a:latin typeface="Georgia" pitchFamily="34" charset="0"/>
              </a:rPr>
              <a:t>— Mahatma Gandhi</a:t>
            </a:r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28482C65-1E34-4857-84F9-BA40AE03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0" y="3971219"/>
            <a:ext cx="1820327" cy="95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6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741</Words>
  <Application>Microsoft Macintosh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Marginalia — Your Personal Literary Assistant</dc:title>
  <dc:subject>PptxGenJS Presentation</dc:subject>
  <dc:creator>Nuria</dc:creator>
  <cp:lastModifiedBy>Nuria Valles Avalos</cp:lastModifiedBy>
  <cp:revision>7</cp:revision>
  <dcterms:created xsi:type="dcterms:W3CDTF">2026-03-27T09:25:16Z</dcterms:created>
  <dcterms:modified xsi:type="dcterms:W3CDTF">2026-03-28T10:21:57Z</dcterms:modified>
</cp:coreProperties>
</file>